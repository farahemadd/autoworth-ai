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Raw price</c:v>
                  </c:pt>
                  <c:pt idx="1">
                    <c:v>log(price)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1.9</c:v>
                </c:pt>
                <c:pt idx="1">
                  <c:v>-0.08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Mercedes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45000</c:v>
                </c:pt>
                <c:pt idx="1">
                  <c:v>27000</c:v>
                </c:pt>
                <c:pt idx="2">
                  <c:v>16000</c:v>
                </c:pt>
                <c:pt idx="3">
                  <c:v>9500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97BC62"/>
            </a:solidFill>
            <a:ln w="31750" cap="flat">
              <a:solidFill>
                <a:srgbClr val="97BC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19000</c:v>
                </c:pt>
                <c:pt idx="1">
                  <c:v>12000</c:v>
                </c:pt>
                <c:pt idx="2">
                  <c:v>7500</c:v>
                </c:pt>
                <c:pt idx="3">
                  <c:v>5000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Linear
Regression</c:v>
                  </c:pt>
                  <c:pt idx="1">
                    <c:v>Decision
Tree</c:v>
                  </c:pt>
                  <c:pt idx="2">
                    <c:v>Gradient
Boosting</c:v>
                  </c:pt>
                  <c:pt idx="3">
                    <c:v>Random
Forest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0.9325</c:v>
                </c:pt>
                <c:pt idx="1">
                  <c:v>0.9424</c:v>
                </c:pt>
                <c:pt idx="2">
                  <c:v>0.9504</c:v>
                </c:pt>
                <c:pt idx="3">
                  <c:v>0.9645</c:v>
                </c:pt>
                <c:pt idx="4">
                  <c:v>0.965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Linear
Regression</c:v>
                  </c:pt>
                  <c:pt idx="1">
                    <c:v>Decision
Tree</c:v>
                  </c:pt>
                  <c:pt idx="2">
                    <c:v>Gradient
Boosting</c:v>
                  </c:pt>
                  <c:pt idx="3">
                    <c:v>Random
Forest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1588</c:v>
                </c:pt>
                <c:pt idx="1">
                  <c:v>1437</c:v>
                </c:pt>
                <c:pt idx="2">
                  <c:v>1380</c:v>
                </c:pt>
                <c:pt idx="3">
                  <c:v>1145</c:v>
                </c:pt>
                <c:pt idx="4">
                  <c:v>1161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R²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Decision
Tree</c:v>
                  </c:pt>
                  <c:pt idx="1">
                    <c:v>Random
Forest</c:v>
                  </c:pt>
                  <c:pt idx="2">
                    <c:v>XGBoost</c:v>
                  </c:pt>
                  <c:pt idx="3">
                    <c:v>Gradient
Boosting</c:v>
                  </c:pt>
                  <c:pt idx="4">
                    <c:v>Linear
Regression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0.9996</c:v>
                </c:pt>
                <c:pt idx="1">
                  <c:v>0.9934</c:v>
                </c:pt>
                <c:pt idx="2">
                  <c:v>0.9711</c:v>
                </c:pt>
                <c:pt idx="3">
                  <c:v>0.9534</c:v>
                </c:pt>
                <c:pt idx="4">
                  <c:v>0.9276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R²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Decision
Tree</c:v>
                  </c:pt>
                  <c:pt idx="1">
                    <c:v>Random
Forest</c:v>
                  </c:pt>
                  <c:pt idx="2">
                    <c:v>XGBoost</c:v>
                  </c:pt>
                  <c:pt idx="3">
                    <c:v>Gradient
Boosting</c:v>
                  </c:pt>
                  <c:pt idx="4">
                    <c:v>Linear
Regression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0.9424</c:v>
                </c:pt>
                <c:pt idx="1">
                  <c:v>0.9645</c:v>
                </c:pt>
                <c:pt idx="2">
                  <c:v>0.965</c:v>
                </c:pt>
                <c:pt idx="3">
                  <c:v>0.9504</c:v>
                </c:pt>
                <c:pt idx="4">
                  <c:v>0.9325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9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drop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EngineSize</c:v>
                  </c:pt>
                  <c:pt idx="1">
                    <c:v>Year</c:v>
                  </c:pt>
                  <c:pt idx="2">
                    <c:v>Make</c:v>
                  </c:pt>
                  <c:pt idx="3">
                    <c:v>MPG</c:v>
                  </c:pt>
                  <c:pt idx="4">
                    <c:v>Model</c:v>
                  </c:pt>
                  <c:pt idx="5">
                    <c:v>Mileage</c:v>
                  </c:pt>
                  <c:pt idx="6">
                    <c:v>Transmission</c:v>
                  </c:pt>
                  <c:pt idx="7">
                    <c:v>FuelType</c:v>
                  </c:pt>
                  <c:pt idx="8">
                    <c:v>Tax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0.24</c:v>
                </c:pt>
                <c:pt idx="1">
                  <c:v>0.228</c:v>
                </c:pt>
                <c:pt idx="2">
                  <c:v>0.157</c:v>
                </c:pt>
                <c:pt idx="3">
                  <c:v>0.156</c:v>
                </c:pt>
                <c:pt idx="4">
                  <c:v>0.099</c:v>
                </c:pt>
                <c:pt idx="5">
                  <c:v>0.078</c:v>
                </c:pt>
                <c:pt idx="6">
                  <c:v>0.074</c:v>
                </c:pt>
                <c:pt idx="7">
                  <c:v>0.017</c:v>
                </c:pt>
                <c:pt idx="8">
                  <c:v>0.006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AutoWorth AI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Prediction &amp; Smart Deal Advisor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852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Machine Learning Project  ·  Farah Emad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model that also tells you whether a deal is good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3B"/>
                </a:solidFill>
              </a:rPr>
              <a:t>Given a used-car listing — make, model, year, mileage, transmission, fuel, engine size —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</a:rPr>
              <a:t>predict its fair market price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3B"/>
                </a:solidFill>
              </a:rPr>
              <a:t>, then compare that estimate to the seller's asking price and rate the deal.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11480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19656" y="431596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85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75104" y="41148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2E3A8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75104" y="411480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431596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85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01568" y="41148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411480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431596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85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28032" y="41148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2E3A8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411480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99048" y="431596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85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4496" y="41148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411480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25512" y="431596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85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80960" y="41148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2E3A8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411480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51976" y="431596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85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07424" y="41148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07424" y="411480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378440" y="431596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85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33888" y="4114800"/>
            <a:ext cx="1298448" cy="777240"/>
          </a:xfrm>
          <a:prstGeom prst="roundRect">
            <a:avLst>
              <a:gd name="adj" fmla="val 9412"/>
            </a:avLst>
          </a:prstGeom>
          <a:solidFill>
            <a:srgbClr val="2E3A8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33888" y="4114800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Advisor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supervised regression  ·  Target: Price (GBP)  ·  Data: 100,000 UK Used Car Dataset (Kaggle)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manufacturer files, deliberately not thirteen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6916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10,668 rows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16916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69080" y="1691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6916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10,781 rows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1691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16916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17,965 rows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39572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3957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4,860 rows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31920" y="239572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69080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3957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13,119 rows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239572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Skoda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3957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6,267 rows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099816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0998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3099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6,738 rows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31920" y="3099816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69080" y="30998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Vauxhall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3099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13,632 rows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0" y="3099816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52360" y="30998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Volkswagen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3099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15,157 rows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849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99,187 rows total, before cleaning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7E8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492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on purpose: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cclass.csv / focus.csv are subsets already inside merc.csv / ford.csv — merging them risks the same car landing in both train and test (a leakage trap). unclean_cclass / unclean_focus are a separate cleaning exercise, not extra data.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Investigate, don't just delete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429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1691640"/>
            <a:ext cx="109728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1691640"/>
            <a:ext cx="2286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1691640"/>
            <a:ext cx="338328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342900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2011680"/>
            <a:ext cx="109728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1,475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011680"/>
            <a:ext cx="228600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011680"/>
            <a:ext cx="338328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listing scraped twice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00884"/>
            <a:ext cx="34290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= 2060 / &lt; 1997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500884"/>
            <a:ext cx="109728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500884"/>
            <a:ext cx="22860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500884"/>
            <a:ext cx="338328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Typo, or too rare to teach a pattern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90088"/>
            <a:ext cx="342900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EngineSize = 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990088"/>
            <a:ext cx="109728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2990088"/>
            <a:ext cx="228600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(Make+Model median)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2990088"/>
            <a:ext cx="338328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impossible — missingness in disguise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479292"/>
            <a:ext cx="34290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 ≤ 10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3479292"/>
            <a:ext cx="109728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3479292"/>
            <a:ext cx="22860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(Make+Model median)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479292"/>
            <a:ext cx="338328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1.1 mpg car does not exist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68496"/>
            <a:ext cx="342900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MPG &gt; p99.5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977640" y="3968496"/>
            <a:ext cx="109728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968496"/>
            <a:ext cx="228600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Cap, not delete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68496"/>
            <a:ext cx="338328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plug-in hybrids — WLTP quotes absurd figures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457700"/>
            <a:ext cx="34290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&lt; £500 / &gt; p99.9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977640" y="4457700"/>
            <a:ext cx="109728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98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4457700"/>
            <a:ext cx="22860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Cap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4457700"/>
            <a:ext cx="338328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listings vs. genuine AMGs &amp; M-cars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946904"/>
            <a:ext cx="342900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&gt; p99.9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977640" y="4946904"/>
            <a:ext cx="109728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74920" y="4946904"/>
            <a:ext cx="228600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360920" y="4946904"/>
            <a:ext cx="3383280" cy="489204"/>
          </a:xfrm>
          <a:prstGeom prst="rect">
            <a:avLst/>
          </a:prstGeom>
          <a:solidFill>
            <a:srgbClr val="F4F6FC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— keep the car, limit its leverage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436108"/>
            <a:ext cx="34290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= 0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977640" y="5436108"/>
            <a:ext cx="109728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6,294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074920" y="5436108"/>
            <a:ext cx="228600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untouched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360920" y="5436108"/>
            <a:ext cx="3383280" cy="4892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error — zero-rated EVs &amp; pre-2017 low-emission cars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016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99,187 → 97,703 rows — only 1.50% removed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findings that decided the modelling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Price is right-skewed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331720"/>
          <a:ext cx="47548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443484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£14,472 vs mean £16,749. Training on log(Price) makes the model optimise relative error — exactly what a deal advisor needs.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3504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Age interacts with brand</a:t>
            </a:r>
            <a:endParaRPr lang="en-US" sz="15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233172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309360" y="48463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brands start higher and shed more absolute value per year — the curves aren't parallel. A linear model can't express that; tree ensembles split on Make, then age, for free.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new features — all row-wise, all leak-free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928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945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2021 − Year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chosen since listings were scraped in early 2021; guarantees CarAge ≥ 1, handling the divide-by-zero structurally.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691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8928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MileagePerYear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1945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Mileage / CarAge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6060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mileage correlate at −0.75; their ratio isolates usage intensity neither column carries alone.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2702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PowerProxy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572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EngineSize / MPG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983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horsepower column exists — displacement per unit of economy approximates performance.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297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2702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IsPremium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572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∈ {Audi, BMW, Mercedes}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983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2.2× median-price gap over Vauxhall; gives Linear Regression an explicit brand-tier term.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Leak-Free Preprocessing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first, fit only on train, wrap everything in one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70064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7370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68,392 rows (70%)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01584" y="1691640"/>
            <a:ext cx="1435608" cy="1005840"/>
          </a:xfrm>
          <a:prstGeom prst="roundRect">
            <a:avLst>
              <a:gd name="adj" fmla="val 5455"/>
            </a:avLst>
          </a:prstGeom>
          <a:solidFill>
            <a:srgbClr val="2E3A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101584" y="1691640"/>
            <a:ext cx="1435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14,655 rows (15%)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20072" y="1691640"/>
            <a:ext cx="1618488" cy="1005840"/>
          </a:xfrm>
          <a:prstGeom prst="roundRect">
            <a:avLst>
              <a:gd name="adj" fmla="val 5455"/>
            </a:avLst>
          </a:prstGeom>
          <a:solidFill>
            <a:srgbClr val="5B64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20072" y="1691640"/>
            <a:ext cx="1618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14,656 rows (15%)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88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untouched until the final model is chosen.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33756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Mileage, EngineSize, MPG, Tax + 4 engineered → median impute → StandardScaler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51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25196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Make, Model, Transmission, FuelType → most-frequent impute → OneHotEncoder(handle_unknown="ignore")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166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516636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TransformedTargetRegressor(log, exp) — train in log-space, predict() still returns pounds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Imputer medians, scaler means, and the one-hot vocabulary are all fit on training rows only — leakage becomes structurally impossible.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Five Models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set, 14,655 rows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R²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1792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MAE (£)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196596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vs. validation R² — the gap tells the real story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0789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memorises training data (gap +0.057).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generalises best of the strong models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same validation accuracy as Random Forest with a gap 4× smaller, and ~10× faster to fit. Taken forward for tuning.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Curves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vs. cross-validation R² as training-set size grows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CV scores stay close throughout — more data is unlikely to help; the model is too simple to overfit.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98064" y="173736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35224" y="19202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935224" y="2651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stays near 1.00 while CV plateaus around 0.925 — the clearest overfitting in the comparison.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47488" y="173736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84648" y="19202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184648" y="2651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keeps climbing as more data is added — the model most likely to benefit from a larger dataset.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96912" y="173736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34072" y="19202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434072" y="2651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CV converge closely — good generalisation, limited benefit from more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46336" y="1737360"/>
            <a:ext cx="2066544" cy="338328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83496" y="192024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683496" y="2651760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CV converge at a high R² — strong performance and good generalisation.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shows the clearest overfitting; Random Forest may benefit from more data. Gradient Boosting and XGBoost are already consistent, so improving features matters more than adding rows.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the Final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— 12 candidates × 3 folds = 36 fits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trike="sngStrike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0.9650</a:t>
            </a:r>
            <a:pPr algn="ctr" indent="0" marL="0">
              <a:buNone/>
            </a:pPr>
            <a:r>
              <a:rPr lang="en-US" sz="2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0.9698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+0.0048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60520" y="1737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1874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3317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trike="sngStrike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£1,161</a:t>
            </a:r>
            <a:pPr algn="ctr" indent="0" marL="0">
              <a:buNone/>
            </a:pPr>
            <a:r>
              <a:rPr lang="en-US" sz="2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£1,055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017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−£106 (9.1%)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1737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874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3317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trike="sngStrike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£1,832</a:t>
            </a:r>
            <a:pPr algn="ctr" indent="0" marL="0">
              <a:buNone/>
            </a:pPr>
            <a:r>
              <a:rPr lang="en-US" sz="2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£1,701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017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−£131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07899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 found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n_estimators=1061   max_depth=8   learning_rate=0.134   subsample=0.917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colsample_bytree=0.623   min_child_weight=3   reg_lambda=0.726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Test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14,656 untouched rows — never seen until this evaluation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2E3A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0.9717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6160" y="201168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2E3A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1945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£1,020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2E3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1945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£1,616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0" y="201168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2E3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21945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6.38%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97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Comfortably past the R² &gt; 0.90 target. Test R² lands above validation (0.9698) because the final model was refit on train+validation — 20% more data — not because of leakage.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(£1,616) is 58% larger than MAE (£1,020) — most predictions are good, and a minority are badly wrong. Next: which ones, and why.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Price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— R² drop when a column is shuffled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828800"/>
            <a:ext cx="4114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size and year dominate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(0.240, 0.228). Brand (Make+Model ≈ 0.256) beats mileage (0.078) — two cars of the same year tend to have similar mileage, so once the model knows the year, mileage adds less than intuition suggests.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importance disagreed sharply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ranked Mileage at 0.003 and EngineSize sixth, both wrong. Correlated features make the default feature_importances_ actively misleading; permutation importance is the trustworthy answer.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Fails — and Why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limits, found by inspecting the ten largest errors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trim/spec data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10 worst errors are specced-up premium cars, under-predicted 24–41%. A base and an M-Sport 4 Series are the same row — no algorithm can recover information the dataset doesn't contain.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trim × drivetrain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2019 Mercedes S-Class Hybrids are over-predicted by 28–33% — too few comparable rows, so the model falls back to the dominant petrol/diesel price level.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173736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514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fleet's age range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1998 Toyota Land Cruiser (100k miles) is predicted at −77%: 23 years old, priced by a collector market that ordinary depreciation features don't capture.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74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error is actually highest on the cheapest cars (5.6% under £10k) and lowest on the most expensive (4.4% over £50k) — the opposite of what the residual plot suggests at a glance, because the same absolute pound error matters far less as a percentage of a higher price.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 Deal Advisor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estimate to the asking price, rate the gap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10% cheaper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792224"/>
            <a:ext cx="2788920" cy="457200"/>
          </a:xfrm>
          <a:prstGeom prst="roundRect">
            <a:avLst>
              <a:gd name="adj" fmla="val 10000"/>
            </a:avLst>
          </a:prstGeom>
          <a:solidFill>
            <a:srgbClr val="1A7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17922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DEAL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3957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cheaper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2450592"/>
            <a:ext cx="2788920" cy="457200"/>
          </a:xfrm>
          <a:prstGeom prst="roundRect">
            <a:avLst>
              <a:gd name="adj" fmla="val 10000"/>
            </a:avLst>
          </a:prstGeom>
          <a:solidFill>
            <a:srgbClr val="1A7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505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0540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±5%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3108960"/>
            <a:ext cx="2788920" cy="457200"/>
          </a:xfrm>
          <a:prstGeom prst="roundRect">
            <a:avLst>
              <a:gd name="adj" fmla="val 10000"/>
            </a:avLst>
          </a:prstGeom>
          <a:solidFill>
            <a:srgbClr val="BF87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57600" y="31089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124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pricier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3767328"/>
            <a:ext cx="2788920" cy="457200"/>
          </a:xfrm>
          <a:prstGeom prst="roundRect">
            <a:avLst>
              <a:gd name="adj" fmla="val 10000"/>
            </a:avLst>
          </a:prstGeom>
          <a:solidFill>
            <a:srgbClr val="D1730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57600" y="3767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OVERPRICED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60350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3708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10% pricier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0" y="4425696"/>
            <a:ext cx="2788920" cy="457200"/>
          </a:xfrm>
          <a:prstGeom prst="roundRect">
            <a:avLst>
              <a:gd name="adj" fmla="val 10000"/>
            </a:avLst>
          </a:prstGeom>
          <a:solidFill>
            <a:srgbClr val="CF22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0" y="44256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OVERPRICED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17373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376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2016 Audi A4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Estimated: £16,000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£14,190  (−11.3%)  →  GREAT DEAL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£18,030  (+12.7%)  →  OVERPRICED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3886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5% flag sits inside the model's own ±6.4% typical error — the advisor surfaces that honestly rather than projecting false confidence.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Streamlit app (app.py) — loads the pickled pipeline directly, so feature engineering, scaling, encoding and the log-inverse never need to be duplicated in the app.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What's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Log-target transform mattered more than model choice — it changed what the model optimises, not just how well.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best generalisation, ~10x faster than Random Forest, cheapest to tune.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pipeline: every fitted step lives inside sklearn's Pipeline, trained on the split only.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next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7452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trim/spec column — the single largest remaining error source.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rare trim x drivetrain combinations (e.g. hybrid variants) more training signal.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validation: train on older listings, validate on newer ones, since market prices drift.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2E3A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0.9717   MAE £1,020   RMSE £1,616   MAPE 6.38%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pipeline, Streamlit app &amp; notebook in the project's GitHub repository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2026-09-30T18:59:18Z</dcterms:created>
  <dcterms:modified xsi:type="dcterms:W3CDTF">2026-09-30T18:59:18Z</dcterms:modified>
</cp:coreProperties>
</file>